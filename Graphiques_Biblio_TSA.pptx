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A65016-12AE-59DA-C2A8-BE80C5B1E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0407EB-505B-E47E-3035-4B09B052D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015A58-6F1A-32C5-7FD2-75A1300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8FFF1E-B7C1-EADF-93D1-892AB8C4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4AB4AA-7ACD-593A-6E80-A80CB249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3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613F6-7CB4-1C1F-61CC-A794AE10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B2319D-7D28-286F-4039-C2F6D9A8C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38E5FD-436B-F9A2-DE22-CB0256FB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968660-0C11-0019-26F5-F18A77D8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3E2102-BCE1-2839-C6F7-DE264797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34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B9ADA-2F90-3437-754F-E0591714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C08C97-7327-0944-614E-4FDCA3EFF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8D3E97-32F2-27DA-D520-281B9366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E11CEF-5685-D9C5-482E-C0090614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D23DC4-1CAD-FDA8-AE3D-913ECC11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867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26223-CD4C-0696-C3F2-421EAAE1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5E0FA2-6C12-E497-4BAD-357C3BF09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FFEA1C-036E-70B7-FFF2-0D62F96D7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12D7C9-0073-CDA9-4196-33C3E2D8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F1ABAB-C05F-9AA5-1898-31338201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4A0150-45DA-2086-4738-A02D7E61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57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598CBF-6D76-1436-9F17-634BBE600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5B7290-39A8-4913-2808-D9A5EA9A8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6A0981-C80A-50AA-61ED-8FA7B21C4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C4511F-CEE9-CDA3-8829-B63E2821B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C3F730-27C2-547B-F0FA-EA88028A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52517B9-6308-0EB5-0210-4E71D29B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29FB90-D881-87B1-CEAD-1718D9BA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3C7690-AA05-499E-B6AA-AE83B01F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65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40A43-8B04-A651-6188-27A51590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D81328-3062-D4DC-A616-628E3F07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490247-BA3C-6888-7C95-CC66E2C8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E8146E-0AFC-B18A-0CC6-6CEF5F33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518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7E3169-A9C7-A6B1-D2D9-A67AFD21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DB55CB-92EC-6CA5-04F9-3BCC8605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796527-8CAF-47A4-40F5-9EEEFFE2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47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220ED4-511A-AC65-CF82-289D9024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DE5C0E-FF1B-F483-2D86-220C3773E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05F109-2B63-4C51-2FB8-BE95F91E4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4C2588-CB0B-35DD-4627-F6559D3F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698389-9BF3-978A-B72D-E0EECA5B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4D7C40-9DBB-D0DB-49DE-718B842F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87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1C424-3F4F-93CB-8E98-D9CF0FA0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E2E52C3-3E7B-1757-AE45-D61379A54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E17D84-4F63-64F2-7166-3C7813544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C23B02-3D40-45BE-A69C-D2BB29A5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DFBEB5-49A8-5A6D-714D-FE0F6ACA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AA0C59-C4CE-ED1E-B1E2-81A741DD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88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24CBC-5D5F-2FA2-C0CB-67EFD70B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8071CC-B249-8B66-8434-08A6FCE6E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7FCCF-57EC-7E08-5EF2-60C7865B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FEFAA5-87D3-3C7A-6CC2-09524744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B368F0-58BF-8D0A-8208-5712FBCB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46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CC68DE-D455-D8A2-3AC8-08DE2B276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B93A0B-902D-BDF5-11EC-0469C1C85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980649-608C-6285-FD3E-E82B1E15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56F459-171F-F3A3-7CE2-3A641306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CD3A8-79CB-C635-04B4-E5226333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95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B055353-E228-0186-3610-71804CA3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B8BCD0-CA80-1244-C1CC-FB0F04C6E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663D07-2BEC-B8E4-0F79-CE8AE7422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BF370-368B-4627-9940-278B98D68E9F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F6F5F5-57BD-2D18-4DCE-FC5478ECC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55465-DAAE-8F93-1CCB-D0E5DDB59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F6CB6-0AA0-4EB3-A326-1833120840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50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E4AA787-6164-CEFB-53F1-4555D9B4C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012" y="618046"/>
            <a:ext cx="7572983" cy="46736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11CCBEB-7495-6C36-584C-FCA5C1308112}"/>
              </a:ext>
            </a:extLst>
          </p:cNvPr>
          <p:cNvSpPr txBox="1"/>
          <p:nvPr/>
        </p:nvSpPr>
        <p:spPr>
          <a:xfrm>
            <a:off x="2513012" y="5519932"/>
            <a:ext cx="7572982" cy="705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fr-FR" sz="1400" b="1" i="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1 :</a:t>
            </a:r>
            <a:r>
              <a:rPr lang="fr-FR" sz="1400" i="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Tendance temporelle des publications sur le trouble du spectre de l’autisme et l’environnement</a:t>
            </a:r>
            <a:endParaRPr lang="fr-FR" sz="14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0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7A4B1-B02C-3FE4-BA5C-6B14E4D4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The image displays a bar chart representing the number of publications per country, with the United States leading, followed by China, Canada, and other countries listed in descending order.&#10;&#10;Le contenu généré par l’IA peut être incorrect.">
            <a:extLst>
              <a:ext uri="{FF2B5EF4-FFF2-40B4-BE49-F238E27FC236}">
                <a16:creationId xmlns:a16="http://schemas.microsoft.com/office/drawing/2014/main" id="{296F2B4D-2BA9-F4CB-7F48-407083EB0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374" y="874183"/>
            <a:ext cx="7583252" cy="4679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CA06288-6CB6-C8EF-D6EF-83ECD102A122}"/>
              </a:ext>
            </a:extLst>
          </p:cNvPr>
          <p:cNvSpPr txBox="1"/>
          <p:nvPr/>
        </p:nvSpPr>
        <p:spPr>
          <a:xfrm>
            <a:off x="2304374" y="5716089"/>
            <a:ext cx="7583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fr-FR" sz="1400" b="1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2 :</a:t>
            </a:r>
            <a:r>
              <a:rPr lang="fr-FR" sz="1400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Répartition des pays les plus productifs</a:t>
            </a:r>
            <a:endParaRPr lang="fr-FR" sz="1400" i="1" kern="100" dirty="0">
              <a:solidFill>
                <a:srgbClr val="0E284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6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788F-ABF5-6F9E-0613-14B92F5C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The diagram displays a bar chart ranking countries by their level of international collaboration, with the United States at the top, followed by the United Kingdom, Germany, and France, among others.&#10;&#10;Le contenu généré par l’IA peut être incorrect.">
            <a:extLst>
              <a:ext uri="{FF2B5EF4-FFF2-40B4-BE49-F238E27FC236}">
                <a16:creationId xmlns:a16="http://schemas.microsoft.com/office/drawing/2014/main" id="{72236C82-5F6B-573C-9576-E960EE023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5" y="873120"/>
            <a:ext cx="7324303" cy="45201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76FFD8B-7208-4800-9C69-73DB917985D5}"/>
              </a:ext>
            </a:extLst>
          </p:cNvPr>
          <p:cNvSpPr txBox="1"/>
          <p:nvPr/>
        </p:nvSpPr>
        <p:spPr>
          <a:xfrm>
            <a:off x="2304374" y="5639886"/>
            <a:ext cx="7583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fr-FR" sz="1400" b="1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3 :</a:t>
            </a:r>
            <a:r>
              <a:rPr lang="fr-FR" sz="1400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Répartition des pays les plus </a:t>
            </a:r>
            <a:r>
              <a:rPr lang="fr-FR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collaboratifs à l’internationale</a:t>
            </a:r>
            <a:endParaRPr lang="fr-FR" sz="1400" i="1" kern="100" dirty="0">
              <a:solidFill>
                <a:srgbClr val="0E284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09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2AD3-1C66-DD05-BE38-9151D24E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8367062-EB89-6879-52B5-46A86E301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452" y="769505"/>
            <a:ext cx="7606347" cy="46942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92B3038-00A7-803F-DE83-B5CCE278D16B}"/>
              </a:ext>
            </a:extLst>
          </p:cNvPr>
          <p:cNvSpPr txBox="1"/>
          <p:nvPr/>
        </p:nvSpPr>
        <p:spPr>
          <a:xfrm>
            <a:off x="2477452" y="5673756"/>
            <a:ext cx="7583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fr-FR" sz="1400" b="1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</a:t>
            </a:r>
            <a:r>
              <a:rPr lang="fr-FR" sz="1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fr-FR" sz="1400" b="1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:</a:t>
            </a:r>
            <a:r>
              <a:rPr lang="fr-FR" sz="1400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Répartition des auteurs les plus </a:t>
            </a:r>
            <a:r>
              <a:rPr lang="fr-FR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productifs</a:t>
            </a:r>
            <a:endParaRPr lang="fr-FR" sz="1400" i="1" kern="100" dirty="0">
              <a:solidFill>
                <a:srgbClr val="0E284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0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C3AC-0224-0784-7D04-1E4825A1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The image displays a line graph showing the average number of citations per article per year, ranging from 1992 to 2025.&#10;&#10;Le contenu généré par l’IA peut être incorrect.">
            <a:extLst>
              <a:ext uri="{FF2B5EF4-FFF2-40B4-BE49-F238E27FC236}">
                <a16:creationId xmlns:a16="http://schemas.microsoft.com/office/drawing/2014/main" id="{B76FFFB1-5AD2-57FF-273E-0E64BFA16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424" y="975780"/>
            <a:ext cx="7418622" cy="4578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6288F2A-C91F-464E-375D-F8AB9212DBBD}"/>
              </a:ext>
            </a:extLst>
          </p:cNvPr>
          <p:cNvSpPr txBox="1"/>
          <p:nvPr/>
        </p:nvSpPr>
        <p:spPr>
          <a:xfrm>
            <a:off x="2493424" y="5775867"/>
            <a:ext cx="7418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fr-FR" sz="1400" b="1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5 :</a:t>
            </a:r>
            <a:r>
              <a:rPr lang="fr-FR" sz="1400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Fréquence moyenne de citations d’un article par an</a:t>
            </a:r>
            <a:endParaRPr lang="fr-FR" sz="1400" i="1" kern="100" dirty="0">
              <a:solidFill>
                <a:srgbClr val="0E284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43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416B-8D99-58B5-489D-8449C1ED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The image displays a line graph depicting the average number of citations per year from 1992 to 2025.&#10;&#10;Le contenu généré par l’IA peut être incorrect.">
            <a:extLst>
              <a:ext uri="{FF2B5EF4-FFF2-40B4-BE49-F238E27FC236}">
                <a16:creationId xmlns:a16="http://schemas.microsoft.com/office/drawing/2014/main" id="{4D2DAB5B-CD00-DA68-BF35-8A48D9084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46" y="830785"/>
            <a:ext cx="7418623" cy="4578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403AACD-7A8B-3C92-CDAC-D1E49C36B962}"/>
              </a:ext>
            </a:extLst>
          </p:cNvPr>
          <p:cNvSpPr txBox="1"/>
          <p:nvPr/>
        </p:nvSpPr>
        <p:spPr>
          <a:xfrm>
            <a:off x="2479146" y="5627846"/>
            <a:ext cx="7418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000"/>
              </a:spcAft>
              <a:buNone/>
            </a:pPr>
            <a:r>
              <a:rPr lang="fr-FR" sz="1400" b="1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6 :</a:t>
            </a:r>
            <a:r>
              <a:rPr lang="fr-FR" sz="1400" i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Nombre moyen total de citations par an sur la période couverte</a:t>
            </a:r>
            <a:endParaRPr lang="fr-FR" sz="1400" i="1" kern="100" dirty="0">
              <a:solidFill>
                <a:srgbClr val="0E284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4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9CC2-A2F4-D21A-31CA-01CF1977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B8DA138-8B76-7C79-87EF-777999BFD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94" y="795243"/>
            <a:ext cx="7225815" cy="443716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6795E28-0534-0E0A-E6AD-1252278EEE84}"/>
              </a:ext>
            </a:extLst>
          </p:cNvPr>
          <p:cNvSpPr txBox="1"/>
          <p:nvPr/>
        </p:nvSpPr>
        <p:spPr>
          <a:xfrm>
            <a:off x="2392994" y="5416426"/>
            <a:ext cx="7225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Figure 7 :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Réseau de </a:t>
            </a:r>
            <a:r>
              <a:rPr lang="fr-FR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-mots révélant les principaux axes de recherche sur le TSA et l’environnement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1255001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87</Words>
  <Application>Microsoft Office PowerPoint</Application>
  <PresentationFormat>Grand écran</PresentationFormat>
  <Paragraphs>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Hippolyte ADECHIAN</dc:creator>
  <cp:lastModifiedBy>Hippolyte ADECHIAN</cp:lastModifiedBy>
  <cp:revision>4</cp:revision>
  <dcterms:created xsi:type="dcterms:W3CDTF">2026-05-15T14:41:40Z</dcterms:created>
  <dcterms:modified xsi:type="dcterms:W3CDTF">2026-06-06T06:12:58Z</dcterms:modified>
</cp:coreProperties>
</file>